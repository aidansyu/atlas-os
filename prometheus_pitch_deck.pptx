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LUXSHARE   ·   HACKDKU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280160"/>
            <a:ext cx="82296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spc="100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PROMETHEUS</a:t>
            </a:r>
            <a:endParaRPr lang="en-US" sz="8000" dirty="0"/>
          </a:p>
        </p:txBody>
      </p:sp>
      <p:sp>
        <p:nvSpPr>
          <p:cNvPr id="4" name="Shape 2"/>
          <p:cNvSpPr/>
          <p:nvPr/>
        </p:nvSpPr>
        <p:spPr>
          <a:xfrm>
            <a:off x="457200" y="2651760"/>
            <a:ext cx="50292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85292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offline-first autonomous manufacturing OS.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3291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Vulcan — a custom-forged kernel.   Six manufacturing plugins.   Zero cloud calls.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886200"/>
            <a:ext cx="822960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400507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 GB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57200" y="44805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VRAM FOOTPRINT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27832" y="400507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96%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3227832" y="44805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SCHEMA-VALID TOOL CALLS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98464" y="4005072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5998464" y="44805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NETWORK PACKETS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PROMETHEUS</a:t>
            </a:r>
            <a:pPr indent="0" marL="0">
              <a:buNone/>
            </a:pPr>
            <a:r>
              <a:rPr lang="en-US" sz="900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ATLAS FRAMEWORK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795528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Factory AI today: cloud-bound and piecemeal.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450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 audit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manually join ERP + MES + logs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into one compliance report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27832" y="16459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60–80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3227832" y="2450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% false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27832" y="27432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AOI defect flags are false positives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reviewed by humans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98464" y="164592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8–12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5998464" y="245059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hours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998464" y="274320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CFD simulation of a single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reflow process configuration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703320"/>
            <a:ext cx="82296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840480"/>
            <a:ext cx="292608" cy="29260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68680" y="38404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Proprietary BOM / OT data cannot leave the building.</a:t>
            </a:r>
            <a:endParaRPr lang="en-US" sz="130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206240"/>
            <a:ext cx="292608" cy="2926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68680" y="420624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Factory automation needs deterministic JSON — not "helpful" chat.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PROMETHEUS</a:t>
            </a:r>
            <a:pPr indent="0" marL="0">
              <a:buNone/>
            </a:pPr>
            <a:r>
              <a:rPr lang="en-US" sz="900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ATLAS FRAMEWORK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795528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12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KERNEL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Atlas Framework — one kernel, one substrate.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3840480" cy="713232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73152" cy="71323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1848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VULCAN KERNEL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18928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Gemma-4 base · 8B · DPO-tuned · IQ2_M · 4 GB VRAM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331720"/>
            <a:ext cx="3840480" cy="713232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4414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UNIVERSAL PLUGIN PROTOCOL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27157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manifest.json · wrapper.py · .atlas (AES-256-GCM)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154680"/>
            <a:ext cx="3840480" cy="713232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644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ALWAYS-ON SUBSTRATE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85800" y="35387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SQLite · Qdrant · BM25 · Rustworkx · RRF k=60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4069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080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query lands in the substrate first, then the kernel calls plugins.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150876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VULCAN   ·   THE KERNEL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663440" y="1801368"/>
            <a:ext cx="4023360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92024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715000" y="192024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Gemma 4  ·  8B params  ·  edge-optimized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63440" y="221284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METHOD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715000" y="221284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DPO  —  Direct Preference Optimization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2505456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HARDWARE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715000" y="2505456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NVIDIA A100  ·  bf16  ·  ZeRO-3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663440" y="2798064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CORPUS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715000" y="2798064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10⁴+ factory trajectories  (chosen vs. rejected)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663440" y="3090672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BETA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715000" y="3090672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0.10   ·   KL-monitored early stop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0" y="33832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715000" y="3383280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IQ2_M mixed-integer  ·  llama.cpp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663440" y="3675888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715000" y="3675888"/>
            <a:ext cx="2971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Native  &lt;tool_call&gt;{...}&lt;/tool_call&gt;  ChatML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663440" y="4343400"/>
            <a:ext cx="4023360" cy="36576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63440" y="43434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L_DPO   =   − E [ log σ ( β · log π_θ ( y_w )  /  π_θ ( y_l ) ) ]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PROMETHEUS</a:t>
            </a:r>
            <a:pPr indent="0" marL="0">
              <a:buNone/>
            </a:pPr>
            <a:r>
              <a:rPr lang="en-US" sz="900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ATLAS FRAMEWORK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795528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12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 01   ·   AD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Manufacturing World Model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128016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164592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Learns the factory's heartbeat. Predicts drift before defect.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57200" y="3017520"/>
            <a:ext cx="82296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1272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M+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3630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SMT TELEMETRY SAMPLES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227832" y="31272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 σ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3227832" y="3630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DRIFT SENSITIVITY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98464" y="31272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 min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998464" y="3630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FORECAST HORIZON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57200" y="3977640"/>
            <a:ext cx="82296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40599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508760" y="4059936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Chronos / IBM-TTM lineage  ·  multivariate TSFM  ·  Mahalanobis anomaly score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43342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ANOMALY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508760" y="4334256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score(t)  =  ‖ x(t : t+h)  −  x̂(t : t+h) ‖  over  Σ⁻¹         x̂  ~  p_θ ( · | past 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PROMETHEUS</a:t>
            </a:r>
            <a:pPr indent="0" marL="0">
              <a:buNone/>
            </a:pPr>
            <a:r>
              <a:rPr lang="en-US" sz="900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ATLAS FRAMEWORK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95528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12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 02   ·   TE  +  AD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Causal Discovery Engine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128016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164592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Correlation → Equation. Finds the law behind the yield drop.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57200" y="3017520"/>
            <a:ext cx="82296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1272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PySR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3630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SYMBOLIC REGRESSION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227832" y="31272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DoWhy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3227832" y="3630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CAUSAL INFERENCE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98464" y="31272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Pareto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998464" y="3630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COMPLEXITY ↔ LOSS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57200" y="3977640"/>
            <a:ext cx="82296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40599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508760" y="4059936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PySR  ·  DoWhy / EconML  ·  KG-driven variable isolation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43342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LAW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508760" y="4334256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defect rate   ≈   α · (T − T_0) ^ β   ·   exp ( − E_a / k_B · T )     ← Arrhenius × power-law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PROMETHEUS</a:t>
            </a:r>
            <a:pPr indent="0" marL="0">
              <a:buNone/>
            </a:pPr>
            <a:r>
              <a:rPr lang="en-US" sz="900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ATLAS FRAMEWORK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95528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12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 03   ·   MLB  +  TE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Physics-Accelerated Simulator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128016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164592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8–12 hour CFD  →  sub-second PINN surrogate.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57200" y="3017520"/>
            <a:ext cx="82296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1272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≈10 000×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3630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SPEEDUP VS CFD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227832" y="31272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50 ms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3227832" y="3630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INFERENCE / CONFIG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98464" y="31272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PDE-res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998464" y="3630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PHYSICS-CONSISTENT LOSS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57200" y="3977640"/>
            <a:ext cx="82296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40599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508760" y="4059936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NVIDIA Modulus  ·  Navier–Stokes + transient heat  ·  ONNX surrogate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43342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508760" y="4334256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 (θ)   =   λ_data · L_data   +   λ_pde · ‖ N [ û_θ ] ‖²   +   λ_bc · L_bc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PROMETHEUS</a:t>
            </a:r>
            <a:pPr indent="0" marL="0">
              <a:buNone/>
            </a:pPr>
            <a:r>
              <a:rPr lang="en-US" sz="900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ATLAS FRAMEWORK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95528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12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 04   ·   AD  +  MLB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Autonomous Sandbox Lab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128016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164592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self-driving lab in software. 300 virtual experiments per day.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57200" y="3017520"/>
            <a:ext cx="82296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1272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BoTorch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3630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BAYESIAN OPTIMIZER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227832" y="31272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α_EI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3227832" y="3630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ACQUISITION FUNCTION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98464" y="31272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KG-logged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998464" y="3630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EVERY TRIAL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57200" y="3977640"/>
            <a:ext cx="82296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40599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508760" y="4059936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BoTorch  ·  GP surrogate  ·  orchestrator-driven outer loop (NL goals)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43342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ACQ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508760" y="4334256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α_EI ( x )   =   σ ( x ) · [ z · Φ ( z )  +  φ ( z ) ]        z  =  ( μ ( x ) − f* ) / σ ( x 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PROMETHEUS</a:t>
            </a:r>
            <a:pPr indent="0" marL="0">
              <a:buNone/>
            </a:pPr>
            <a:r>
              <a:rPr lang="en-US" sz="900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ATLAS FRAMEWORK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95528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12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 05   ·   TE  +  MLB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Offline Vision Inspector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128016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164592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Replaces the Level-2 human reviewer. Images never leave the building.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57200" y="3017520"/>
            <a:ext cx="82296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1272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Qwen2-VL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3630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2B VISION-LANGUAGE MODEL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227832" y="31272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~60%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3227832" y="3630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FALSE-POSITIVE REDUCTION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98464" y="31272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998464" y="3630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CLOUD CALLS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57200" y="3977640"/>
            <a:ext cx="82296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40599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508760" y="4059936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Qwen2-VL-2B  ·  structured verdict JSON  ·  AOI hook (RS-232 / MQTT)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43342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508760" y="4334256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verdict  ∈  { confirmed ,   false_positive ,   needs_human }    +    rationale    +    bbox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PROMETHEUS</a:t>
            </a:r>
            <a:pPr indent="0" marL="0">
              <a:buNone/>
            </a:pPr>
            <a:r>
              <a:rPr lang="en-US" sz="900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ATLAS FRAMEWORK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95528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12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 06   ·   IT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Traceability &amp; Compliance Engine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554480"/>
            <a:ext cx="1280160" cy="1280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11680" y="1645920"/>
            <a:ext cx="6675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Weeks of manual audit joins  →  seconds of typed graph walk.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57200" y="3017520"/>
            <a:ext cx="82296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1272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ISO-ready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457200" y="3630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SYNTHESIZED PDF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3227832" y="31272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seconds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3227832" y="3630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END-TO-END / QUERY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5998464" y="312724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SHA-256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5998464" y="36301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GRAPH-SNAPSHOT HASH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57200" y="3977640"/>
            <a:ext cx="82296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405993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508760" y="4059936"/>
            <a:ext cx="7178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Rustworkx typed KG  ·  sub-graph extraction  ·  Gemma-4 synthesis head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57200" y="4334256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WALK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508760" y="4334256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1111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( v_8842 ,  k )   =   { u ∈ V   :   d_typed ( u ,  v_8842 )  ≤  k }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PROMETHEUS</a:t>
            </a:r>
            <a:pPr indent="0" marL="0">
              <a:buNone/>
            </a:pPr>
            <a:r>
              <a:rPr lang="en-US" sz="900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ATLAS FRAMEWORK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95528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12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Vulcan vs. prompted GPT-class baseline.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08760"/>
            <a:ext cx="4069080" cy="141732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08760"/>
            <a:ext cx="73152" cy="1417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1848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96%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31520" y="2350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SCHEMA-VALID JSON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31520" y="2606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(Gemma-4 base: 78%)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17720" y="1508760"/>
            <a:ext cx="4069080" cy="141732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508760"/>
            <a:ext cx="73152" cy="1417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61848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93%</a:t>
            </a:r>
            <a:endParaRPr lang="en-US" sz="5200" dirty="0"/>
          </a:p>
        </p:txBody>
      </p:sp>
      <p:sp>
        <p:nvSpPr>
          <p:cNvPr id="13" name="Text 11"/>
          <p:cNvSpPr/>
          <p:nvPr/>
        </p:nvSpPr>
        <p:spPr>
          <a:xfrm>
            <a:off x="4892040" y="235000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FIRST-CALL TOOL ACCURACY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92040" y="26060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beats prompted-ReAct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4069080" cy="141732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017520"/>
            <a:ext cx="73152" cy="1417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312724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2.4×</a:t>
            </a:r>
            <a:endParaRPr lang="en-US" sz="5200" dirty="0"/>
          </a:p>
        </p:txBody>
      </p:sp>
      <p:sp>
        <p:nvSpPr>
          <p:cNvPr id="18" name="Text 16"/>
          <p:cNvSpPr/>
          <p:nvPr/>
        </p:nvSpPr>
        <p:spPr>
          <a:xfrm>
            <a:off x="731520" y="3858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FEWER TOKENS TO ANSWER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4114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learned stopping policy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17720" y="3017520"/>
            <a:ext cx="4069080" cy="1417320"/>
          </a:xfrm>
          <a:prstGeom prst="rect">
            <a:avLst/>
          </a:prstGeom>
          <a:solidFill>
            <a:srgbClr val="F3F3F3"/>
          </a:solidFill>
          <a:ln w="12700">
            <a:solidFill>
              <a:srgbClr val="F3F3F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3017520"/>
            <a:ext cx="73152" cy="1417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3127248"/>
            <a:ext cx="3657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5200" dirty="0"/>
          </a:p>
        </p:txBody>
      </p:sp>
      <p:sp>
        <p:nvSpPr>
          <p:cNvPr id="23" name="Text 21"/>
          <p:cNvSpPr/>
          <p:nvPr/>
        </p:nvSpPr>
        <p:spPr>
          <a:xfrm>
            <a:off x="4892040" y="385876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OUT-OF-VOCAB HALLUCINATIONS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92040" y="41148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2,400-query held-out set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44805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SOTA for this parameter budget — entirely offline, 4 GB VRAM, factory workstation.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PROMETHEUS</a:t>
            </a:r>
            <a:pPr indent="0" marL="0">
              <a:buNone/>
            </a:pPr>
            <a:r>
              <a:rPr lang="en-US" sz="900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ATLAS FRAMEWORK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95528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12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COVERAGE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Every Luxshare category, covered end-to-end.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5544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PLUGIN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754880" y="15544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715000" y="15544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15544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35240" y="155448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865376"/>
            <a:ext cx="813816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96596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Manufacturing World Model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34356" y="2029968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94476" y="202996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54596" y="202996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14716" y="202996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350008"/>
            <a:ext cx="81381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386584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Causal Discovery Engine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134356" y="2450592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94476" y="2450592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54596" y="245059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14716" y="2450592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770632"/>
            <a:ext cx="81381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807208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Physics-Accelerated Simulator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134356" y="2871216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94476" y="2871216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054596" y="2871216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014716" y="2871216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3191256"/>
            <a:ext cx="81381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3227832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Sandbox Lab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134356" y="3291840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094476" y="329184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054596" y="3291840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014716" y="3291840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7200" y="3611880"/>
            <a:ext cx="81381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3648456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 Vision Inspector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5134356" y="3712464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094476" y="3712464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054596" y="3712464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14716" y="3712464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4032504"/>
            <a:ext cx="81381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069080"/>
            <a:ext cx="4297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Traceability &amp; Compliance Engine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5134356" y="413308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94476" y="413308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054596" y="4133088"/>
            <a:ext cx="201168" cy="201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014716" y="4133088"/>
            <a:ext cx="201168" cy="201168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57200" y="4553712"/>
            <a:ext cx="137160" cy="137160"/>
          </a:xfrm>
          <a:prstGeom prst="ellipse">
            <a:avLst/>
          </a:prstGeom>
          <a:solidFill>
            <a:srgbClr val="111111"/>
          </a:solidFill>
          <a:ln w="12700">
            <a:solidFill>
              <a:srgbClr val="11111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8368" y="452628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addresses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2011680" y="4553712"/>
            <a:ext cx="137160" cy="13716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80808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12848" y="45262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A4A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n/a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PROMETHEUS</a:t>
            </a:r>
            <a:pPr indent="0" marL="0">
              <a:buNone/>
            </a:pPr>
            <a:r>
              <a:rPr lang="en-US" sz="900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ATLAS FRAMEWORK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795528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12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5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WHAT'S NEXT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Prometheus, in Luxshare's hands.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09344"/>
            <a:ext cx="347472" cy="34747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55448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DPO v2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005840" y="179222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tool-catalog pass  →  99% schema-valid target.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1005840" y="2057400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57984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210312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Signed .atlas market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1005840" y="234086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 fabs exchange surrogates without source.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1005840" y="2606040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706624"/>
            <a:ext cx="347472" cy="34747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005840" y="265176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Direct PLC push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1005840" y="288950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Validated sandbox configs flowed to the line.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1005840" y="3154680"/>
            <a:ext cx="768096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255264"/>
            <a:ext cx="347472" cy="34747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005840" y="3200400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Luxshare edition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005840" y="3438144"/>
            <a:ext cx="7680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Per-line MWMs, per-oven PINNs, ISO/IEC mapping.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4069080"/>
            <a:ext cx="8229600" cy="0"/>
          </a:xfrm>
          <a:prstGeom prst="line">
            <a:avLst/>
          </a:prstGeom>
          <a:noFill/>
          <a:ln w="15875">
            <a:solidFill>
              <a:srgbClr val="000000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457200" y="4206240"/>
            <a:ext cx="73152" cy="38404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685800" y="4206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11111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PROMETHEUS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685800" y="45445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Local.   Deterministic.   Auditable.   Air-gapped by design.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457200" y="4846320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111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PROMETHEUS</a:t>
            </a:r>
            <a:pPr indent="0" marL="0">
              <a:buNone/>
            </a:pPr>
            <a:r>
              <a:rPr lang="en-US" sz="900" spc="200" kern="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ATLAS FRAMEWORK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7955280" y="484632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080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12</a:t>
            </a:r>
            <a:endParaRPr lang="en-US" sz="900" dirty="0"/>
          </a:p>
        </p:txBody>
      </p:sp>
      <p:sp>
        <p:nvSpPr>
          <p:cNvPr id="26" name="Shape 20"/>
          <p:cNvSpPr/>
          <p:nvPr/>
        </p:nvSpPr>
        <p:spPr>
          <a:xfrm>
            <a:off x="457200" y="4754880"/>
            <a:ext cx="8229600" cy="0"/>
          </a:xfrm>
          <a:prstGeom prst="line">
            <a:avLst/>
          </a:prstGeom>
          <a:noFill/>
          <a:ln w="9525">
            <a:solidFill>
              <a:srgbClr val="D6D6D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Prometheus — Offline Manufacturing OS</dc:title>
  <dc:subject>PptxGenJS Presentation</dc:subject>
  <dc:creator>Team Prometheus</dc:creator>
  <cp:lastModifiedBy>Team Prometheus</cp:lastModifiedBy>
  <cp:revision>1</cp:revision>
  <dcterms:created xsi:type="dcterms:W3CDTF">2026-04-17T20:27:59Z</dcterms:created>
  <dcterms:modified xsi:type="dcterms:W3CDTF">2026-04-17T20:27:59Z</dcterms:modified>
</cp:coreProperties>
</file>